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ECF2F8"/>
                </a:solidFill>
                <a:latin typeface="Consolas"/>
              </a:rPr>
              <a:t>RefractionRT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4FC3F7"/>
                </a:solidFill>
                <a:latin typeface="Meiryo UI"/>
              </a:rPr>
              <a:t>課題ヒント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0040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B24D"/>
                </a:solidFill>
                <a:latin typeface="Meiryo UI"/>
              </a:rPr>
              <a:t>RTPSO / DispatchRays ( 多重バウンス, closesthit から再帰 TraceRay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703320"/>
            <a:ext cx="96012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9FB0C2"/>
                </a:solidFill>
                <a:latin typeface="Meiryo UI"/>
              </a:rPr>
              <a:t>ガラス・水の透過。界面ごとに Snell で屈折・Fresnel で反射/屈折に分岐し、数バウンス辿る。KHR ior/transmission/volume 連携。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FB0C2"/>
                </a:solidFill>
                <a:latin typeface="Meiryo UI"/>
              </a:rPr>
              <a:t>SeedCore Raytracing  /  TODO Hints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2505456" cy="384048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2505456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F141C"/>
                </a:solidFill>
                <a:latin typeface="Meiryo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CF2F8"/>
                </a:solidFill>
                <a:latin typeface="Meiryo UI"/>
              </a:rPr>
              <a:t>考え方 と 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332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CF2F8"/>
                </a:solidFill>
                <a:latin typeface="Meiryo UI"/>
              </a:rPr>
              <a:t>界面での分岐・媒質内吸収・再帰追跡が必要 → RTPSO 一択。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B24D"/>
                </a:solidFill>
                <a:latin typeface="Meiryo UI"/>
              </a:rPr>
              <a:t>closesthit から再帰 TraceRay するので maxTraceRecursionDepth_ をバウンス数ぶん確保(例4)。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4FC3F7"/>
                </a:solidFill>
                <a:latin typeface="Meiryo UI"/>
              </a:rPr>
              <a:t>payload は 32byte (radiance+bounce+throughput+hit_distance)。maxPayloadSize を 32 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737360" cy="384048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7373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F141C"/>
                </a:solidFill>
                <a:latin typeface="Meiryo UI"/>
              </a:rPr>
              <a:t>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CF2F8"/>
                </a:solidFill>
                <a:latin typeface="Meiryo UI"/>
              </a:rPr>
              <a:t>KHR 連携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332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CF2F8"/>
                </a:solidFill>
                <a:latin typeface="Meiryo UI"/>
              </a:rPr>
              <a:t>ior         : Snell の屈折率。eta = ior_in / ior_out。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ECF2F8"/>
                </a:solidFill>
                <a:latin typeface="Meiryo UI"/>
              </a:rPr>
              <a:t>transmission: 屈折側の重み。(1-F)*transmission を throughput に掛ける。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ECF2F8"/>
                </a:solidFill>
                <a:latin typeface="Meiryo UI"/>
              </a:rPr>
              <a:t>volume(attenuation): 媒質内の吸収。exp(-attenuation * 距離) を掛ける (Beer-Lambert)。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993392" cy="384048"/>
          </a:xfrm>
          <a:prstGeom prst="round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993392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F141C"/>
                </a:solidFill>
                <a:latin typeface="Meiryo UI"/>
              </a:rPr>
              <a:t>TODO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CF2F8"/>
                </a:solidFill>
                <a:latin typeface="Meiryo UI"/>
              </a:rPr>
              <a:t>界面処理 (closesthit の核)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332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CF2F8"/>
                </a:solidFill>
                <a:latin typeface="Meiryo UI"/>
              </a:rPr>
              <a:t>入射/出射は dot(rayDir, N) の符号で判定して eta と法線向きを合わせる。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4FC3F7"/>
                </a:solidFill>
                <a:latin typeface="Meiryo UI"/>
              </a:rPr>
              <a:t>全反射 (refract が 0 を返す) のときは反射のみ。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10332720" cy="2011680"/>
          </a:xfrm>
          <a:prstGeom prst="roundRect">
            <a:avLst/>
          </a:prstGeom>
          <a:solidFill>
            <a:srgbClr val="101822"/>
          </a:solidFill>
          <a:ln w="1270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182112"/>
            <a:ext cx="10113264" cy="18653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E6F5"/>
                </a:solidFill>
                <a:latin typeface="Consolas"/>
              </a:rPr>
              <a:t>float3 N = hitNormal; float ndi = dot(WorldRayDirection(), N);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E6F5"/>
                </a:solidFill>
                <a:latin typeface="Consolas"/>
              </a:rPr>
              <a:t>bool entering = ndi &lt; 0.0;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E6F5"/>
                </a:solidFill>
                <a:latin typeface="Consolas"/>
              </a:rPr>
              <a:t>float eta = entering ? (1.0/ior) : ior;   // air&lt;-&gt;medium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E6F5"/>
                </a:solidFill>
                <a:latin typeface="Consolas"/>
              </a:rPr>
              <a:t>float3 n   = entering ? N : -N;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E6F5"/>
                </a:solidFill>
                <a:latin typeface="Consolas"/>
              </a:rPr>
              <a:t>float3 refr = refract(WorldRayDirection(), n, eta);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E6F5"/>
                </a:solidFill>
                <a:latin typeface="Consolas"/>
              </a:rPr>
              <a:t>float F = FresnelSchlick(f0_from_ior, saturate(abs(ndi)));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E6F5"/>
                </a:solidFill>
                <a:latin typeface="Consolas"/>
              </a:rPr>
              <a:t>payload.throughput_ *= (1.0 - F) * transmission;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E6F5"/>
                </a:solidFill>
                <a:latin typeface="Consolas"/>
              </a:rPr>
              <a:t>if (payload.bounce_+1 &lt; max_bounces_ &amp;&amp; any(refr))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E6F5"/>
                </a:solidFill>
                <a:latin typeface="Consolas"/>
              </a:rPr>
              <a:t>    TraceRay(tlas, 0, 0xFF, 0,0,0, MakeRay(hit, refr), payload); // recurse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737360" cy="384048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7373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F141C"/>
                </a:solidFill>
                <a:latin typeface="Meiryo UI"/>
              </a:rPr>
              <a:t>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CF2F8"/>
                </a:solidFill>
                <a:latin typeface="Meiryo UI"/>
              </a:rPr>
              <a:t>疎通の順番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332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CF2F8"/>
                </a:solidFill>
                <a:latin typeface="Meiryo UI"/>
              </a:rPr>
              <a:t>1) まず屈折させず『素通し』で裏側の環境が出るか確認 (eta=1)。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ECF2F8"/>
                </a:solidFill>
                <a:latin typeface="Meiryo UI"/>
              </a:rPr>
              <a:t>2) 次に Snell 屈折を入れる。3) Fresnel 分岐。4) Beer-Lambert 吸収。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9FB0C2"/>
                </a:solidFill>
                <a:latin typeface="Meiryo UI"/>
              </a:rPr>
              <a:t>段階を踏むと、どこで絵が壊れたか切り分けやすい。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