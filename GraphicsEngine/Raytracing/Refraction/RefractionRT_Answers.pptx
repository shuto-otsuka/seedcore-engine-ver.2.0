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256032" cy="6858000"/>
          </a:xfrm>
          <a:prstGeom prst="round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05840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>
                <a:solidFill>
                  <a:srgbClr val="ECF2F8"/>
                </a:solidFill>
                <a:latin typeface="Consolas"/>
              </a:rPr>
              <a:t>RefractionRT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74320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66BB6A"/>
                </a:solidFill>
                <a:latin typeface="Meiryo UI"/>
              </a:rPr>
              <a:t>解答 (ANSWER)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474720"/>
            <a:ext cx="96012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9FC2AE"/>
                </a:solidFill>
                <a:latin typeface="Meiryo UI"/>
              </a:rPr>
              <a:t>各 TODO の完成コード。自分で書いてから答え合わせに使う。ヘルパ(WangHash 等)は末尾に。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9FC2AE"/>
                </a:solidFill>
                <a:latin typeface="Meiryo UI"/>
              </a:rPr>
              <a:t>SeedCore Raytracing  / 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993392" cy="384048"/>
          </a:xfrm>
          <a:prstGeom prst="round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21208"/>
            <a:ext cx="1993392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E1A14"/>
                </a:solidFill>
                <a:latin typeface="Meiryo UI"/>
              </a:rPr>
              <a:t>RAYGEN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103327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ECF2F8"/>
                </a:solidFill>
                <a:latin typeface="Meiryo UI"/>
              </a:rPr>
              <a:t>TODO 1-4 初期化 → 一次屈折レイ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332720" cy="1993391"/>
          </a:xfrm>
          <a:prstGeom prst="roundRect">
            <a:avLst/>
          </a:prstGeom>
          <a:solidFill>
            <a:srgbClr val="0C1812"/>
          </a:solidFill>
          <a:ln w="12700">
            <a:solidFill>
              <a:srgbClr val="24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56231"/>
            <a:ext cx="10113264" cy="1847087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D6F5E2"/>
                </a:solidFill>
                <a:latin typeface="Consolas"/>
              </a:rPr>
              <a:t>float3 view_dir = normalize(world_position - refraction.camera_position_);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D6F5E2"/>
                </a:solidFill>
                <a:latin typeface="Consolas"/>
              </a:rPr>
              <a:t>RefractionPayload payload;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D6F5E2"/>
                </a:solidFill>
                <a:latin typeface="Consolas"/>
              </a:rPr>
              <a:t>payload.radiance_=0; payload.bounce_=0; payload.throughput_=1; payload.hit_distance_=0;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D6F5E2"/>
                </a:solidFill>
                <a:latin typeface="Consolas"/>
              </a:rPr>
              <a:t>RaytracingAccelerationStructure tlas = ResourceDescriptorHeap[refraction.tlas_index_];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D6F5E2"/>
                </a:solidFill>
                <a:latin typeface="Consolas"/>
              </a:rPr>
              <a:t>RayDesc ray; ray.Origin = world_position - normal*refraction.normal_bias_;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D6F5E2"/>
                </a:solidFill>
                <a:latin typeface="Consolas"/>
              </a:rPr>
              <a:t>ray.Direction = view_dir; ray.TMin=0.001; ray.TMax=refraction.ray_t_max_;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D6F5E2"/>
                </a:solidFill>
                <a:latin typeface="Consolas"/>
              </a:rPr>
              <a:t>TraceRay(tlas, RAY_FLAG_NONE, 0xFF, 0,0,0, ray, payload);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D6F5E2"/>
                </a:solidFill>
                <a:latin typeface="Consolas"/>
              </a:rPr>
              <a:t>output[pixel] = float4(payload.radiance_, 1.0);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1481328" cy="384048"/>
          </a:xfrm>
          <a:prstGeom prst="round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21208"/>
            <a:ext cx="1481328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E1A14"/>
                </a:solidFill>
                <a:latin typeface="Meiryo UI"/>
              </a:rPr>
              <a:t>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103327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ECF2F8"/>
                </a:solidFill>
                <a:latin typeface="Meiryo UI"/>
              </a:rPr>
              <a:t>TODO 5 空 = throughput × 環境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332720" cy="1133856"/>
          </a:xfrm>
          <a:prstGeom prst="roundRect">
            <a:avLst/>
          </a:prstGeom>
          <a:solidFill>
            <a:srgbClr val="0C1812"/>
          </a:solidFill>
          <a:ln w="12700">
            <a:solidFill>
              <a:srgbClr val="24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56231"/>
            <a:ext cx="10113264" cy="98755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D6F5E2"/>
                </a:solidFill>
                <a:latin typeface="Consolas"/>
              </a:rPr>
              <a:t>TextureCube env = ResourceDescriptorHeap[refraction.sky_environment_cube_index_];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D6F5E2"/>
                </a:solidFill>
                <a:latin typeface="Consolas"/>
              </a:rPr>
              <a:t>float3 sky = env.SampleLevel(sampler_linear_clamp, WorldRayDirection(), 0).rgb;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D6F5E2"/>
                </a:solidFill>
                <a:latin typeface="Consolas"/>
              </a:rPr>
              <a:t>payload.radiance_ += payload.throughput_ * sky;</a:t>
            </a:r>
          </a:p>
          <a:p>
            <a:pPr algn="l">
              <a:lnSpc>
                <a:spcPct val="112000"/>
              </a:lnSpc>
            </a:pPr>
            <a:r>
              <a:rPr sz="1250" b="0">
                <a:solidFill>
                  <a:srgbClr val="D6F5E2"/>
                </a:solidFill>
                <a:latin typeface="Consolas"/>
              </a:rPr>
              <a:t>payload.hit_distance_ = 1e30;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02920"/>
            <a:ext cx="3017520" cy="384048"/>
          </a:xfrm>
          <a:prstGeom prst="round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21208"/>
            <a:ext cx="3017520" cy="34747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0E1A14"/>
                </a:solidFill>
                <a:latin typeface="Meiryo UI"/>
              </a:rPr>
              <a:t>CLOSESTHIT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1033272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ECF2F8"/>
                </a:solidFill>
                <a:latin typeface="Meiryo UI"/>
              </a:rPr>
              <a:t>TODO 6 界面: Snell + Fresnel + 吸収 + 再帰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33272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FC2AE"/>
                </a:solidFill>
                <a:latin typeface="Meiryo UI"/>
              </a:rPr>
              <a:t>hitNormal/ior/transmission/attenuation は頂点+マテリアル引き直しで取得。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240280"/>
            <a:ext cx="10332720" cy="3927348"/>
          </a:xfrm>
          <a:prstGeom prst="roundRect">
            <a:avLst/>
          </a:prstGeom>
          <a:solidFill>
            <a:srgbClr val="0C1812"/>
          </a:solidFill>
          <a:ln w="12700">
            <a:solidFill>
              <a:srgbClr val="244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313432"/>
            <a:ext cx="10113264" cy="378104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F5E2"/>
                </a:solidFill>
                <a:latin typeface="Consolas"/>
              </a:rPr>
              <a:t>float3 D = WorldRayDirection(); float ndi = dot(D, hitNormal);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F5E2"/>
                </a:solidFill>
                <a:latin typeface="Consolas"/>
              </a:rPr>
              <a:t>bool entering = ndi &lt; 0.0;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F5E2"/>
                </a:solidFill>
                <a:latin typeface="Consolas"/>
              </a:rPr>
              <a:t>float3 n   = entering ? hitNormal : -hitNormal;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F5E2"/>
                </a:solidFill>
                <a:latin typeface="Consolas"/>
              </a:rPr>
              <a:t>float eta  = entering ? (1.0/ior) : ior;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F5E2"/>
                </a:solidFill>
                <a:latin typeface="Consolas"/>
              </a:rPr>
              <a:t>float f0s  = pow((ior-1.0)/(ior+1.0), 2.0);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F5E2"/>
                </a:solidFill>
                <a:latin typeface="Consolas"/>
              </a:rPr>
              <a:t>float F    = f0s + (1.0-f0s)*pow(1.0-abs(ndi), 5.0);   // Schlick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F5E2"/>
                </a:solidFill>
                <a:latin typeface="Consolas"/>
              </a:rPr>
              <a:t>float3 refr = refract(D, n, eta);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F5E2"/>
                </a:solidFill>
                <a:latin typeface="Consolas"/>
              </a:rPr>
              <a:t>float3 hit  = WorldRayOrigin() + D*RayTCurrent();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F5E2"/>
                </a:solidFill>
                <a:latin typeface="Consolas"/>
              </a:rPr>
              <a:t>payload.hit_distance_ = RayTCurrent();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F5E2"/>
                </a:solidFill>
                <a:latin typeface="Consolas"/>
              </a:rPr>
              <a:t>if (entering) payload.throughput_ *= exp(-attenuation * RayTCurrent()); // 媒質内吸収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F5E2"/>
                </a:solidFill>
                <a:latin typeface="Consolas"/>
              </a:rPr>
              <a:t>payload.throughput_ *= (1.0 - F) * transmission;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F5E2"/>
                </a:solidFill>
                <a:latin typeface="Consolas"/>
              </a:rPr>
              <a:t>if (payload.bounce_+1 &lt; refraction.max_bounces_ &amp;&amp; dot(refr,refr) &gt; 0) {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F5E2"/>
                </a:solidFill>
                <a:latin typeface="Consolas"/>
              </a:rPr>
              <a:t>    payload.bounce_ += 1;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F5E2"/>
                </a:solidFill>
                <a:latin typeface="Consolas"/>
              </a:rPr>
              <a:t>    RayDesc r; r.Origin = hit + refr*0.001; r.Direction = refr;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F5E2"/>
                </a:solidFill>
                <a:latin typeface="Consolas"/>
              </a:rPr>
              <a:t>    r.TMin=0.001; r.TMax=refraction.ray_t_max_;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F5E2"/>
                </a:solidFill>
                <a:latin typeface="Consolas"/>
              </a:rPr>
              <a:t>    TraceRay(tlas, RAY_FLAG_NONE, 0xFF, 0,0,0, r, payload);</a:t>
            </a:r>
          </a:p>
          <a:p>
            <a:pPr algn="l">
              <a:lnSpc>
                <a:spcPct val="112000"/>
              </a:lnSpc>
            </a:pPr>
            <a:r>
              <a:rPr sz="1100" b="0">
                <a:solidFill>
                  <a:srgbClr val="D6F5E2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